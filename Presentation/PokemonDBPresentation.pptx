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4F86BD-AE06-4E62-9EE7-5A458A26807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F6460D-769C-4742-AEB0-19F86CAB4FD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Recommendation #1</a:t>
          </a:r>
        </a:p>
        <a:p>
          <a:pPr>
            <a:lnSpc>
              <a:spcPct val="100000"/>
            </a:lnSpc>
          </a:pPr>
          <a:r>
            <a:rPr lang="en-US" sz="1400" dirty="0"/>
            <a:t>Expand the dataset to include additional variables such as </a:t>
          </a:r>
          <a:r>
            <a:rPr lang="en-US" sz="1400" b="1" dirty="0"/>
            <a:t>card release dates, sale locations, original worth, and transaction dates</a:t>
          </a:r>
          <a:r>
            <a:rPr lang="en-US" sz="1400" dirty="0"/>
            <a:t> for thorough analysis</a:t>
          </a:r>
        </a:p>
      </dgm:t>
    </dgm:pt>
    <dgm:pt modelId="{7208534A-8D4D-4F98-83F5-3E79332FAF97}" type="parTrans" cxnId="{36EA328F-11B7-4073-8ABF-45A244DE90D8}">
      <dgm:prSet/>
      <dgm:spPr/>
      <dgm:t>
        <a:bodyPr/>
        <a:lstStyle/>
        <a:p>
          <a:endParaRPr lang="en-US"/>
        </a:p>
      </dgm:t>
    </dgm:pt>
    <dgm:pt modelId="{763F78D0-4E40-4014-A48D-10BC9FB154F5}" type="sibTrans" cxnId="{36EA328F-11B7-4073-8ABF-45A244DE90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39D0A8-A60F-4BDC-B90B-89AAC81E80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Recommendation #2</a:t>
          </a:r>
        </a:p>
        <a:p>
          <a:pPr>
            <a:lnSpc>
              <a:spcPct val="100000"/>
            </a:lnSpc>
          </a:pPr>
          <a:r>
            <a:rPr lang="en-US" sz="1400" dirty="0"/>
            <a:t>Utilize data visualization tools like </a:t>
          </a:r>
          <a:r>
            <a:rPr lang="en-US" sz="1400" b="1" dirty="0"/>
            <a:t>Tableau</a:t>
          </a:r>
          <a:r>
            <a:rPr lang="en-US" sz="1400" dirty="0"/>
            <a:t> to better present trends and observations</a:t>
          </a:r>
        </a:p>
      </dgm:t>
    </dgm:pt>
    <dgm:pt modelId="{0397050C-15AA-4605-9CC0-00AB68A6CBE4}" type="parTrans" cxnId="{B0CE320B-46BF-4107-A601-D2E751443BC4}">
      <dgm:prSet/>
      <dgm:spPr/>
      <dgm:t>
        <a:bodyPr/>
        <a:lstStyle/>
        <a:p>
          <a:endParaRPr lang="en-US"/>
        </a:p>
      </dgm:t>
    </dgm:pt>
    <dgm:pt modelId="{A33BEFC3-002B-479F-9FE7-6D9235F470C5}" type="sibTrans" cxnId="{B0CE320B-46BF-4107-A601-D2E751443B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7F38A8-437A-4D11-A03C-AEA70C0785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Recommendation #3</a:t>
          </a:r>
        </a:p>
        <a:p>
          <a:pPr>
            <a:lnSpc>
              <a:spcPct val="100000"/>
            </a:lnSpc>
          </a:pPr>
          <a:r>
            <a:rPr lang="en-US" sz="1400" dirty="0"/>
            <a:t>Perform </a:t>
          </a:r>
          <a:r>
            <a:rPr lang="en-US" sz="1400" b="1" dirty="0"/>
            <a:t>time-series analysis</a:t>
          </a:r>
          <a:r>
            <a:rPr lang="en-US" sz="1400" dirty="0"/>
            <a:t> on card prices to identify long-term trends and potentially predict future worth</a:t>
          </a:r>
        </a:p>
      </dgm:t>
    </dgm:pt>
    <dgm:pt modelId="{1E82E219-1A0E-4AFE-A597-104E482E6A98}" type="parTrans" cxnId="{96B1C2AD-24F3-458F-8380-F2CC79D95C25}">
      <dgm:prSet/>
      <dgm:spPr/>
      <dgm:t>
        <a:bodyPr/>
        <a:lstStyle/>
        <a:p>
          <a:endParaRPr lang="en-US"/>
        </a:p>
      </dgm:t>
    </dgm:pt>
    <dgm:pt modelId="{F7E60D29-E0D1-4E79-B071-E68BE632560C}" type="sibTrans" cxnId="{96B1C2AD-24F3-458F-8380-F2CC79D95C25}">
      <dgm:prSet/>
      <dgm:spPr/>
      <dgm:t>
        <a:bodyPr/>
        <a:lstStyle/>
        <a:p>
          <a:endParaRPr lang="en-US"/>
        </a:p>
      </dgm:t>
    </dgm:pt>
    <dgm:pt modelId="{68E4D553-8D9E-4ED2-9317-09D389E45ED8}" type="pres">
      <dgm:prSet presAssocID="{BA4F86BD-AE06-4E62-9EE7-5A458A26807C}" presName="root" presStyleCnt="0">
        <dgm:presLayoutVars>
          <dgm:dir/>
          <dgm:resizeHandles val="exact"/>
        </dgm:presLayoutVars>
      </dgm:prSet>
      <dgm:spPr/>
    </dgm:pt>
    <dgm:pt modelId="{3752F897-1C31-4B87-B5DE-68D98E83B00A}" type="pres">
      <dgm:prSet presAssocID="{BA4F86BD-AE06-4E62-9EE7-5A458A26807C}" presName="container" presStyleCnt="0">
        <dgm:presLayoutVars>
          <dgm:dir/>
          <dgm:resizeHandles val="exact"/>
        </dgm:presLayoutVars>
      </dgm:prSet>
      <dgm:spPr/>
    </dgm:pt>
    <dgm:pt modelId="{04F86FBE-771E-4D7F-B874-1333894B6A3E}" type="pres">
      <dgm:prSet presAssocID="{4BF6460D-769C-4742-AEB0-19F86CAB4FDF}" presName="compNode" presStyleCnt="0"/>
      <dgm:spPr/>
    </dgm:pt>
    <dgm:pt modelId="{DDC9D919-B7C8-4024-89D6-21366AF0A06B}" type="pres">
      <dgm:prSet presAssocID="{4BF6460D-769C-4742-AEB0-19F86CAB4FDF}" presName="iconBgRect" presStyleLbl="bgShp" presStyleIdx="0" presStyleCnt="3"/>
      <dgm:spPr/>
    </dgm:pt>
    <dgm:pt modelId="{9C5875CE-4D33-4C58-B67E-B14F3A44C3FA}" type="pres">
      <dgm:prSet presAssocID="{4BF6460D-769C-4742-AEB0-19F86CAB4FD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0F3CAB8-0306-4899-ADC9-32E6392DC1B4}" type="pres">
      <dgm:prSet presAssocID="{4BF6460D-769C-4742-AEB0-19F86CAB4FDF}" presName="spaceRect" presStyleCnt="0"/>
      <dgm:spPr/>
    </dgm:pt>
    <dgm:pt modelId="{920B3B5F-99CB-4B1F-9163-A76DD54E7C45}" type="pres">
      <dgm:prSet presAssocID="{4BF6460D-769C-4742-AEB0-19F86CAB4FDF}" presName="textRect" presStyleLbl="revTx" presStyleIdx="0" presStyleCnt="3">
        <dgm:presLayoutVars>
          <dgm:chMax val="1"/>
          <dgm:chPref val="1"/>
        </dgm:presLayoutVars>
      </dgm:prSet>
      <dgm:spPr/>
    </dgm:pt>
    <dgm:pt modelId="{76D57491-E790-49FE-B84F-F2DD52C0DB84}" type="pres">
      <dgm:prSet presAssocID="{763F78D0-4E40-4014-A48D-10BC9FB154F5}" presName="sibTrans" presStyleLbl="sibTrans2D1" presStyleIdx="0" presStyleCnt="0"/>
      <dgm:spPr/>
    </dgm:pt>
    <dgm:pt modelId="{09836ABD-913C-4718-89C0-37F38BD7A0CF}" type="pres">
      <dgm:prSet presAssocID="{6539D0A8-A60F-4BDC-B90B-89AAC81E8050}" presName="compNode" presStyleCnt="0"/>
      <dgm:spPr/>
    </dgm:pt>
    <dgm:pt modelId="{126563CC-FCD4-4628-B156-95CBD668F999}" type="pres">
      <dgm:prSet presAssocID="{6539D0A8-A60F-4BDC-B90B-89AAC81E8050}" presName="iconBgRect" presStyleLbl="bgShp" presStyleIdx="1" presStyleCnt="3"/>
      <dgm:spPr/>
    </dgm:pt>
    <dgm:pt modelId="{26EB23CD-573B-4E4B-A698-7F8316D133AB}" type="pres">
      <dgm:prSet presAssocID="{6539D0A8-A60F-4BDC-B90B-89AAC81E80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2112480-97C9-4216-84DE-E730E5379DB1}" type="pres">
      <dgm:prSet presAssocID="{6539D0A8-A60F-4BDC-B90B-89AAC81E8050}" presName="spaceRect" presStyleCnt="0"/>
      <dgm:spPr/>
    </dgm:pt>
    <dgm:pt modelId="{3C817AD5-D751-497B-A02D-484938195A9C}" type="pres">
      <dgm:prSet presAssocID="{6539D0A8-A60F-4BDC-B90B-89AAC81E8050}" presName="textRect" presStyleLbl="revTx" presStyleIdx="1" presStyleCnt="3">
        <dgm:presLayoutVars>
          <dgm:chMax val="1"/>
          <dgm:chPref val="1"/>
        </dgm:presLayoutVars>
      </dgm:prSet>
      <dgm:spPr/>
    </dgm:pt>
    <dgm:pt modelId="{2165233D-E63F-46DD-A451-9C66712F33C3}" type="pres">
      <dgm:prSet presAssocID="{A33BEFC3-002B-479F-9FE7-6D9235F470C5}" presName="sibTrans" presStyleLbl="sibTrans2D1" presStyleIdx="0" presStyleCnt="0"/>
      <dgm:spPr/>
    </dgm:pt>
    <dgm:pt modelId="{EDC4A440-2466-4E2E-9D3C-F953C21E6A5F}" type="pres">
      <dgm:prSet presAssocID="{4E7F38A8-437A-4D11-A03C-AEA70C07853B}" presName="compNode" presStyleCnt="0"/>
      <dgm:spPr/>
    </dgm:pt>
    <dgm:pt modelId="{69E36F0B-936F-4DAC-A746-4D320B9A24C6}" type="pres">
      <dgm:prSet presAssocID="{4E7F38A8-437A-4D11-A03C-AEA70C07853B}" presName="iconBgRect" presStyleLbl="bgShp" presStyleIdx="2" presStyleCnt="3"/>
      <dgm:spPr/>
    </dgm:pt>
    <dgm:pt modelId="{7450F440-6611-4589-BFAC-2D50F4D98A6C}" type="pres">
      <dgm:prSet presAssocID="{4E7F38A8-437A-4D11-A03C-AEA70C07853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D8B575A1-55D0-4DA8-BC2B-859246EC74D9}" type="pres">
      <dgm:prSet presAssocID="{4E7F38A8-437A-4D11-A03C-AEA70C07853B}" presName="spaceRect" presStyleCnt="0"/>
      <dgm:spPr/>
    </dgm:pt>
    <dgm:pt modelId="{4D022F28-613F-4D47-87F3-8C293BD3BA83}" type="pres">
      <dgm:prSet presAssocID="{4E7F38A8-437A-4D11-A03C-AEA70C07853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0CE320B-46BF-4107-A601-D2E751443BC4}" srcId="{BA4F86BD-AE06-4E62-9EE7-5A458A26807C}" destId="{6539D0A8-A60F-4BDC-B90B-89AAC81E8050}" srcOrd="1" destOrd="0" parTransId="{0397050C-15AA-4605-9CC0-00AB68A6CBE4}" sibTransId="{A33BEFC3-002B-479F-9FE7-6D9235F470C5}"/>
    <dgm:cxn modelId="{CC226A70-3D4E-4172-940E-54801B06DF48}" type="presOf" srcId="{A33BEFC3-002B-479F-9FE7-6D9235F470C5}" destId="{2165233D-E63F-46DD-A451-9C66712F33C3}" srcOrd="0" destOrd="0" presId="urn:microsoft.com/office/officeart/2018/2/layout/IconCircleList"/>
    <dgm:cxn modelId="{66905871-A5FA-41BD-8E56-7F3EC1F6100D}" type="presOf" srcId="{4BF6460D-769C-4742-AEB0-19F86CAB4FDF}" destId="{920B3B5F-99CB-4B1F-9163-A76DD54E7C45}" srcOrd="0" destOrd="0" presId="urn:microsoft.com/office/officeart/2018/2/layout/IconCircleList"/>
    <dgm:cxn modelId="{36EA328F-11B7-4073-8ABF-45A244DE90D8}" srcId="{BA4F86BD-AE06-4E62-9EE7-5A458A26807C}" destId="{4BF6460D-769C-4742-AEB0-19F86CAB4FDF}" srcOrd="0" destOrd="0" parTransId="{7208534A-8D4D-4F98-83F5-3E79332FAF97}" sibTransId="{763F78D0-4E40-4014-A48D-10BC9FB154F5}"/>
    <dgm:cxn modelId="{96B1C2AD-24F3-458F-8380-F2CC79D95C25}" srcId="{BA4F86BD-AE06-4E62-9EE7-5A458A26807C}" destId="{4E7F38A8-437A-4D11-A03C-AEA70C07853B}" srcOrd="2" destOrd="0" parTransId="{1E82E219-1A0E-4AFE-A597-104E482E6A98}" sibTransId="{F7E60D29-E0D1-4E79-B071-E68BE632560C}"/>
    <dgm:cxn modelId="{DC0BEFC9-4E5A-4CEC-AC5C-32CA921AA7C1}" type="presOf" srcId="{BA4F86BD-AE06-4E62-9EE7-5A458A26807C}" destId="{68E4D553-8D9E-4ED2-9317-09D389E45ED8}" srcOrd="0" destOrd="0" presId="urn:microsoft.com/office/officeart/2018/2/layout/IconCircleList"/>
    <dgm:cxn modelId="{F8CB16D5-8986-4D30-81E3-0CBC8134716D}" type="presOf" srcId="{6539D0A8-A60F-4BDC-B90B-89AAC81E8050}" destId="{3C817AD5-D751-497B-A02D-484938195A9C}" srcOrd="0" destOrd="0" presId="urn:microsoft.com/office/officeart/2018/2/layout/IconCircleList"/>
    <dgm:cxn modelId="{9D5D02ED-1447-486F-B5B8-4FB244C4EBCE}" type="presOf" srcId="{763F78D0-4E40-4014-A48D-10BC9FB154F5}" destId="{76D57491-E790-49FE-B84F-F2DD52C0DB84}" srcOrd="0" destOrd="0" presId="urn:microsoft.com/office/officeart/2018/2/layout/IconCircleList"/>
    <dgm:cxn modelId="{E3D170F6-85BF-474C-B0F7-012CADA954AE}" type="presOf" srcId="{4E7F38A8-437A-4D11-A03C-AEA70C07853B}" destId="{4D022F28-613F-4D47-87F3-8C293BD3BA83}" srcOrd="0" destOrd="0" presId="urn:microsoft.com/office/officeart/2018/2/layout/IconCircleList"/>
    <dgm:cxn modelId="{92F438AA-5FD2-4ED5-9DDF-48EA6DE1236E}" type="presParOf" srcId="{68E4D553-8D9E-4ED2-9317-09D389E45ED8}" destId="{3752F897-1C31-4B87-B5DE-68D98E83B00A}" srcOrd="0" destOrd="0" presId="urn:microsoft.com/office/officeart/2018/2/layout/IconCircleList"/>
    <dgm:cxn modelId="{2515884D-E218-4644-AB42-60CB80E38151}" type="presParOf" srcId="{3752F897-1C31-4B87-B5DE-68D98E83B00A}" destId="{04F86FBE-771E-4D7F-B874-1333894B6A3E}" srcOrd="0" destOrd="0" presId="urn:microsoft.com/office/officeart/2018/2/layout/IconCircleList"/>
    <dgm:cxn modelId="{8C5B5B58-992C-4B68-AC59-BA82EA1CA8AC}" type="presParOf" srcId="{04F86FBE-771E-4D7F-B874-1333894B6A3E}" destId="{DDC9D919-B7C8-4024-89D6-21366AF0A06B}" srcOrd="0" destOrd="0" presId="urn:microsoft.com/office/officeart/2018/2/layout/IconCircleList"/>
    <dgm:cxn modelId="{88A33A5B-7161-4ACF-BB90-B63B29E7B84C}" type="presParOf" srcId="{04F86FBE-771E-4D7F-B874-1333894B6A3E}" destId="{9C5875CE-4D33-4C58-B67E-B14F3A44C3FA}" srcOrd="1" destOrd="0" presId="urn:microsoft.com/office/officeart/2018/2/layout/IconCircleList"/>
    <dgm:cxn modelId="{6D031B5C-DCEE-49B3-8CDC-1B404D0D1420}" type="presParOf" srcId="{04F86FBE-771E-4D7F-B874-1333894B6A3E}" destId="{50F3CAB8-0306-4899-ADC9-32E6392DC1B4}" srcOrd="2" destOrd="0" presId="urn:microsoft.com/office/officeart/2018/2/layout/IconCircleList"/>
    <dgm:cxn modelId="{54BBB5BE-2729-4556-9E64-9AB4648A7143}" type="presParOf" srcId="{04F86FBE-771E-4D7F-B874-1333894B6A3E}" destId="{920B3B5F-99CB-4B1F-9163-A76DD54E7C45}" srcOrd="3" destOrd="0" presId="urn:microsoft.com/office/officeart/2018/2/layout/IconCircleList"/>
    <dgm:cxn modelId="{5023F710-66D2-4EFB-854B-696CED30BA4B}" type="presParOf" srcId="{3752F897-1C31-4B87-B5DE-68D98E83B00A}" destId="{76D57491-E790-49FE-B84F-F2DD52C0DB84}" srcOrd="1" destOrd="0" presId="urn:microsoft.com/office/officeart/2018/2/layout/IconCircleList"/>
    <dgm:cxn modelId="{27002B68-174E-49D2-A8AF-4CBAFF631F40}" type="presParOf" srcId="{3752F897-1C31-4B87-B5DE-68D98E83B00A}" destId="{09836ABD-913C-4718-89C0-37F38BD7A0CF}" srcOrd="2" destOrd="0" presId="urn:microsoft.com/office/officeart/2018/2/layout/IconCircleList"/>
    <dgm:cxn modelId="{5CA8E556-5645-440E-B60A-B35A7D6AE0AD}" type="presParOf" srcId="{09836ABD-913C-4718-89C0-37F38BD7A0CF}" destId="{126563CC-FCD4-4628-B156-95CBD668F999}" srcOrd="0" destOrd="0" presId="urn:microsoft.com/office/officeart/2018/2/layout/IconCircleList"/>
    <dgm:cxn modelId="{EC4078A5-5130-466D-A877-107FB82F03B2}" type="presParOf" srcId="{09836ABD-913C-4718-89C0-37F38BD7A0CF}" destId="{26EB23CD-573B-4E4B-A698-7F8316D133AB}" srcOrd="1" destOrd="0" presId="urn:microsoft.com/office/officeart/2018/2/layout/IconCircleList"/>
    <dgm:cxn modelId="{1916DBC8-0F93-4B3A-B9B4-7E0E2E1AD60D}" type="presParOf" srcId="{09836ABD-913C-4718-89C0-37F38BD7A0CF}" destId="{42112480-97C9-4216-84DE-E730E5379DB1}" srcOrd="2" destOrd="0" presId="urn:microsoft.com/office/officeart/2018/2/layout/IconCircleList"/>
    <dgm:cxn modelId="{09E1260B-B918-4974-97C2-BEEFE726265B}" type="presParOf" srcId="{09836ABD-913C-4718-89C0-37F38BD7A0CF}" destId="{3C817AD5-D751-497B-A02D-484938195A9C}" srcOrd="3" destOrd="0" presId="urn:microsoft.com/office/officeart/2018/2/layout/IconCircleList"/>
    <dgm:cxn modelId="{154D35A0-F232-41AC-8109-8B98F14F5F24}" type="presParOf" srcId="{3752F897-1C31-4B87-B5DE-68D98E83B00A}" destId="{2165233D-E63F-46DD-A451-9C66712F33C3}" srcOrd="3" destOrd="0" presId="urn:microsoft.com/office/officeart/2018/2/layout/IconCircleList"/>
    <dgm:cxn modelId="{C0FE62EF-BBEE-4DB1-82EE-4252D7014934}" type="presParOf" srcId="{3752F897-1C31-4B87-B5DE-68D98E83B00A}" destId="{EDC4A440-2466-4E2E-9D3C-F953C21E6A5F}" srcOrd="4" destOrd="0" presId="urn:microsoft.com/office/officeart/2018/2/layout/IconCircleList"/>
    <dgm:cxn modelId="{48B0947E-FA12-4154-9907-605DAAA24DDC}" type="presParOf" srcId="{EDC4A440-2466-4E2E-9D3C-F953C21E6A5F}" destId="{69E36F0B-936F-4DAC-A746-4D320B9A24C6}" srcOrd="0" destOrd="0" presId="urn:microsoft.com/office/officeart/2018/2/layout/IconCircleList"/>
    <dgm:cxn modelId="{E3ABF3B7-6DA7-4A91-9343-1F27026A12F3}" type="presParOf" srcId="{EDC4A440-2466-4E2E-9D3C-F953C21E6A5F}" destId="{7450F440-6611-4589-BFAC-2D50F4D98A6C}" srcOrd="1" destOrd="0" presId="urn:microsoft.com/office/officeart/2018/2/layout/IconCircleList"/>
    <dgm:cxn modelId="{6004E3AF-AA67-4073-9B88-85A624F9F901}" type="presParOf" srcId="{EDC4A440-2466-4E2E-9D3C-F953C21E6A5F}" destId="{D8B575A1-55D0-4DA8-BC2B-859246EC74D9}" srcOrd="2" destOrd="0" presId="urn:microsoft.com/office/officeart/2018/2/layout/IconCircleList"/>
    <dgm:cxn modelId="{DF9BB34D-033F-432F-B81F-7D73BAF4DD73}" type="presParOf" srcId="{EDC4A440-2466-4E2E-9D3C-F953C21E6A5F}" destId="{4D022F28-613F-4D47-87F3-8C293BD3BA8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9D919-B7C8-4024-89D6-21366AF0A06B}">
      <dsp:nvSpPr>
        <dsp:cNvPr id="0" name=""/>
        <dsp:cNvSpPr/>
      </dsp:nvSpPr>
      <dsp:spPr>
        <a:xfrm>
          <a:off x="836605" y="642111"/>
          <a:ext cx="747102" cy="74710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875CE-4D33-4C58-B67E-B14F3A44C3FA}">
      <dsp:nvSpPr>
        <dsp:cNvPr id="0" name=""/>
        <dsp:cNvSpPr/>
      </dsp:nvSpPr>
      <dsp:spPr>
        <a:xfrm>
          <a:off x="993496" y="799002"/>
          <a:ext cx="433319" cy="4333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B3B5F-99CB-4B1F-9163-A76DD54E7C45}">
      <dsp:nvSpPr>
        <dsp:cNvPr id="0" name=""/>
        <dsp:cNvSpPr/>
      </dsp:nvSpPr>
      <dsp:spPr>
        <a:xfrm>
          <a:off x="1743801" y="642111"/>
          <a:ext cx="1761027" cy="747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Recommendation #1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Expand the dataset to include additional variables such as </a:t>
          </a:r>
          <a:r>
            <a:rPr lang="en-US" sz="1400" b="1" kern="1200" dirty="0"/>
            <a:t>card release dates, sale locations, original worth, and transaction dates</a:t>
          </a:r>
          <a:r>
            <a:rPr lang="en-US" sz="1400" kern="1200" dirty="0"/>
            <a:t> for thorough analysis</a:t>
          </a:r>
        </a:p>
      </dsp:txBody>
      <dsp:txXfrm>
        <a:off x="1743801" y="642111"/>
        <a:ext cx="1761027" cy="747102"/>
      </dsp:txXfrm>
    </dsp:sp>
    <dsp:sp modelId="{126563CC-FCD4-4628-B156-95CBD668F999}">
      <dsp:nvSpPr>
        <dsp:cNvPr id="0" name=""/>
        <dsp:cNvSpPr/>
      </dsp:nvSpPr>
      <dsp:spPr>
        <a:xfrm>
          <a:off x="3811674" y="642111"/>
          <a:ext cx="747102" cy="74710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B23CD-573B-4E4B-A698-7F8316D133AB}">
      <dsp:nvSpPr>
        <dsp:cNvPr id="0" name=""/>
        <dsp:cNvSpPr/>
      </dsp:nvSpPr>
      <dsp:spPr>
        <a:xfrm>
          <a:off x="3968565" y="799002"/>
          <a:ext cx="433319" cy="4333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17AD5-D751-497B-A02D-484938195A9C}">
      <dsp:nvSpPr>
        <dsp:cNvPr id="0" name=""/>
        <dsp:cNvSpPr/>
      </dsp:nvSpPr>
      <dsp:spPr>
        <a:xfrm>
          <a:off x="4718870" y="642111"/>
          <a:ext cx="1761027" cy="747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Recommendation #2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Utilize data visualization tools like </a:t>
          </a:r>
          <a:r>
            <a:rPr lang="en-US" sz="1400" b="1" kern="1200" dirty="0"/>
            <a:t>Tableau</a:t>
          </a:r>
          <a:r>
            <a:rPr lang="en-US" sz="1400" kern="1200" dirty="0"/>
            <a:t> to better present trends and observations</a:t>
          </a:r>
        </a:p>
      </dsp:txBody>
      <dsp:txXfrm>
        <a:off x="4718870" y="642111"/>
        <a:ext cx="1761027" cy="747102"/>
      </dsp:txXfrm>
    </dsp:sp>
    <dsp:sp modelId="{69E36F0B-936F-4DAC-A746-4D320B9A24C6}">
      <dsp:nvSpPr>
        <dsp:cNvPr id="0" name=""/>
        <dsp:cNvSpPr/>
      </dsp:nvSpPr>
      <dsp:spPr>
        <a:xfrm>
          <a:off x="6786743" y="642111"/>
          <a:ext cx="747102" cy="74710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0F440-6611-4589-BFAC-2D50F4D98A6C}">
      <dsp:nvSpPr>
        <dsp:cNvPr id="0" name=""/>
        <dsp:cNvSpPr/>
      </dsp:nvSpPr>
      <dsp:spPr>
        <a:xfrm>
          <a:off x="6943634" y="799002"/>
          <a:ext cx="433319" cy="43331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022F28-613F-4D47-87F3-8C293BD3BA83}">
      <dsp:nvSpPr>
        <dsp:cNvPr id="0" name=""/>
        <dsp:cNvSpPr/>
      </dsp:nvSpPr>
      <dsp:spPr>
        <a:xfrm>
          <a:off x="7693939" y="642111"/>
          <a:ext cx="1761027" cy="747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Recommendation #3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Perform </a:t>
          </a:r>
          <a:r>
            <a:rPr lang="en-US" sz="1400" b="1" kern="1200" dirty="0"/>
            <a:t>time-series analysis</a:t>
          </a:r>
          <a:r>
            <a:rPr lang="en-US" sz="1400" kern="1200" dirty="0"/>
            <a:t> on card prices to identify long-term trends and potentially predict future worth</a:t>
          </a:r>
        </a:p>
      </dsp:txBody>
      <dsp:txXfrm>
        <a:off x="7693939" y="642111"/>
        <a:ext cx="1761027" cy="747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27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6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6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6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6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1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4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6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099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0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0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D054B7C-A720-4EC4-B7BC-47EB560A3F1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5FFAE91-5286-47CF-8685-6BEF92A33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7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jsoriano999/Legendary-Pokemon-Classification-Analysis/tree/main" TargetMode="External"/><Relationship Id="rId3" Type="http://schemas.microsoft.com/office/2007/relationships/hdphoto" Target="../media/hdphoto1.wdp"/><Relationship Id="rId7" Type="http://schemas.openxmlformats.org/officeDocument/2006/relationships/hyperlink" Target="https://www.kaggle.com/datasets/ceebloop/pokmon-dataset-202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hyperlink" Target="https://chatgp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E214-59F8-3945-ECAE-8A62B91B6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180" y="1847088"/>
            <a:ext cx="10073640" cy="1572768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/>
              <a:t>Legendary Pokémon Classification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82F08-3A5A-36B0-D6B1-5C4208937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9180" y="2843786"/>
            <a:ext cx="10799064" cy="722375"/>
          </a:xfrm>
        </p:spPr>
        <p:txBody>
          <a:bodyPr>
            <a:normAutofit/>
          </a:bodyPr>
          <a:lstStyle/>
          <a:p>
            <a:pPr algn="l"/>
            <a:r>
              <a:rPr lang="en-US" sz="25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comparative study of legendary and non-legendary Pokémon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6444BC4-D868-FE8C-6DE0-DF8F2F415C4C}"/>
              </a:ext>
            </a:extLst>
          </p:cNvPr>
          <p:cNvSpPr txBox="1">
            <a:spLocks/>
          </p:cNvSpPr>
          <p:nvPr/>
        </p:nvSpPr>
        <p:spPr>
          <a:xfrm>
            <a:off x="839724" y="4434841"/>
            <a:ext cx="10073640" cy="10607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Martha Horta</a:t>
            </a:r>
          </a:p>
          <a:p>
            <a:pPr algn="l">
              <a:lnSpc>
                <a:spcPct val="100000"/>
              </a:lnSpc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Krisma King</a:t>
            </a:r>
          </a:p>
          <a:p>
            <a:pPr algn="l">
              <a:lnSpc>
                <a:spcPct val="100000"/>
              </a:lnSpc>
            </a:pP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Daniel Soriano</a:t>
            </a:r>
          </a:p>
        </p:txBody>
      </p:sp>
    </p:spTree>
    <p:extLst>
      <p:ext uri="{BB962C8B-B14F-4D97-AF65-F5344CB8AC3E}">
        <p14:creationId xmlns:p14="http://schemas.microsoft.com/office/powerpoint/2010/main" val="249224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21C1D-6927-1B19-1745-75D394CB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4A077-058C-4A94-406C-E32232D64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Introduction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6247685-CCFA-A455-5EDC-A46F8DFBF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2320412"/>
            <a:ext cx="10058400" cy="3935635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Wingdings" pitchFamily="2" charset="2"/>
              <a:buChar char="§"/>
            </a:pPr>
            <a:r>
              <a:rPr lang="en-US" sz="1800" b="1" dirty="0"/>
              <a:t>Pokémon is a globally recognized franchise that features fictional creatures which humans catch, train, and battle.</a:t>
            </a:r>
          </a:p>
          <a:p>
            <a:pPr marL="342900" indent="-182880">
              <a:buFont typeface="Wingdings" pitchFamily="2" charset="2"/>
              <a:buChar char="§"/>
            </a:pPr>
            <a:r>
              <a:rPr lang="en-US" sz="1800" dirty="0"/>
              <a:t>Includes unique creatures with different types, abilities, and stats</a:t>
            </a:r>
          </a:p>
          <a:p>
            <a:pPr marL="342900" indent="-182880">
              <a:buFont typeface="Wingdings" pitchFamily="2" charset="2"/>
              <a:buChar char="§"/>
            </a:pPr>
            <a:r>
              <a:rPr lang="en-US" sz="1800" dirty="0"/>
              <a:t>Spans multiple media such as games, shows, and the trading card game</a:t>
            </a:r>
          </a:p>
          <a:p>
            <a:pPr marL="342900" indent="-182880">
              <a:buFont typeface="Wingdings" pitchFamily="2" charset="2"/>
              <a:buChar char="§"/>
            </a:pPr>
            <a:r>
              <a:rPr lang="en-US" sz="1800" dirty="0"/>
              <a:t>Involves strategic gameplay through collecting and battling Pokémon cards</a:t>
            </a:r>
          </a:p>
          <a:p>
            <a:pPr indent="-182880">
              <a:buFont typeface="Wingdings" pitchFamily="2" charset="2"/>
              <a:buChar char="§"/>
            </a:pPr>
            <a:r>
              <a:rPr lang="en-US" sz="1800" b="1" dirty="0"/>
              <a:t>Analysis goals:</a:t>
            </a:r>
          </a:p>
          <a:p>
            <a:pPr lvl="1" indent="-182880" algn="l">
              <a:buFont typeface="Wingdings" pitchFamily="2" charset="2"/>
              <a:buChar char="§"/>
            </a:pPr>
            <a:r>
              <a:rPr lang="en-US" sz="1800" b="1" dirty="0"/>
              <a:t>Compare legendary vs. non-legendary Pokémon</a:t>
            </a:r>
            <a:r>
              <a:rPr lang="en-US" sz="1800" dirty="0"/>
              <a:t> to identify differences in battle stats, structure (types, abilities, egg groups), and overall performance</a:t>
            </a:r>
          </a:p>
          <a:p>
            <a:pPr lvl="1" indent="-182880" algn="l">
              <a:buFont typeface="Wingdings" pitchFamily="2" charset="2"/>
              <a:buChar char="§"/>
            </a:pPr>
            <a:r>
              <a:rPr lang="en-US" sz="1800" b="1" dirty="0"/>
              <a:t>Analyze the relationship between Pokémon strength and card market value</a:t>
            </a:r>
            <a:r>
              <a:rPr lang="en-US" sz="1800" dirty="0"/>
              <a:t>, including pricing trends, rarity, and high-value outliers</a:t>
            </a:r>
          </a:p>
          <a:p>
            <a:pPr lvl="1" indent="-182880" algn="l">
              <a:buFont typeface="Wingdings" pitchFamily="2" charset="2"/>
              <a:buChar char="§"/>
            </a:pPr>
            <a:r>
              <a:rPr lang="en-US" sz="1800" b="1" dirty="0"/>
              <a:t>Use SQL queries on a normalized database to uncover patterns and observations</a:t>
            </a:r>
            <a:r>
              <a:rPr lang="en-US" sz="1800" dirty="0"/>
              <a:t> related to distribution, performance, and economic value </a:t>
            </a:r>
            <a:endParaRPr lang="en-US" sz="1800" b="1" dirty="0"/>
          </a:p>
          <a:p>
            <a:pPr indent="-182880">
              <a:buFont typeface="Wingdings" pitchFamily="2" charset="2"/>
              <a:buChar char="§"/>
            </a:pPr>
            <a:endParaRPr lang="en-US" b="1" dirty="0"/>
          </a:p>
          <a:p>
            <a:pPr indent="-182880">
              <a:buFont typeface="Wingdings" pitchFamily="2" charset="2"/>
              <a:buChar char="§"/>
            </a:pPr>
            <a:endParaRPr lang="en-US" b="1" dirty="0"/>
          </a:p>
          <a:p>
            <a:pPr indent="-182880">
              <a:buFont typeface="Wingdings" pitchFamily="2" charset="2"/>
              <a:buChar char="§"/>
            </a:pPr>
            <a:endParaRPr lang="en-US" i="1" dirty="0"/>
          </a:p>
          <a:p>
            <a:pPr indent="-182880">
              <a:buFont typeface="Wingdings" pitchFamily="2" charset="2"/>
              <a:buChar char="§"/>
            </a:pPr>
            <a:endParaRPr lang="en-US" i="1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DDBFF37-BE57-7618-D58F-963FDB73408F}"/>
              </a:ext>
            </a:extLst>
          </p:cNvPr>
          <p:cNvSpPr txBox="1">
            <a:spLocks/>
          </p:cNvSpPr>
          <p:nvPr/>
        </p:nvSpPr>
        <p:spPr>
          <a:xfrm>
            <a:off x="1059180" y="2221993"/>
            <a:ext cx="10073640" cy="3182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4CFE1CD-17C7-D17B-08C8-ADA8FE8A6923}"/>
              </a:ext>
            </a:extLst>
          </p:cNvPr>
          <p:cNvSpPr txBox="1">
            <a:spLocks/>
          </p:cNvSpPr>
          <p:nvPr/>
        </p:nvSpPr>
        <p:spPr>
          <a:xfrm>
            <a:off x="1059180" y="2822449"/>
            <a:ext cx="10799064" cy="72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l"/>
            <a:endParaRPr lang="en-US" sz="25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36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0307E-5849-5EAC-2D15-AC40E8CB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A4EFB-428F-9E04-CF37-E75708C21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 dirty="0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1F0ECF-AA3E-8A0E-36CB-180F1083C54C}"/>
              </a:ext>
            </a:extLst>
          </p:cNvPr>
          <p:cNvSpPr txBox="1"/>
          <p:nvPr/>
        </p:nvSpPr>
        <p:spPr>
          <a:xfrm>
            <a:off x="1069848" y="2320412"/>
            <a:ext cx="10058400" cy="3851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Downloaded an initial single-table dataset from Kaggle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Examined and cleaned the dataset using Excel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Uploaded the cleaned .csv file to the GenAI platform ChatGPT to verify that the data was accurate for each Pokémon, including only cards from the Scarlet &amp; Violet and Sword &amp; Shield series, along with recent sale prices and rarities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Used ChatGPT to separate the new single-table .csv into multiple relational tables while establishing Third Normal Form (3NF)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Used ChatGPT to generate a .</a:t>
            </a:r>
            <a:r>
              <a:rPr lang="en-US" sz="1700" dirty="0" err="1"/>
              <a:t>sql</a:t>
            </a:r>
            <a:r>
              <a:rPr lang="en-US" sz="1700" dirty="0"/>
              <a:t> database file for upload to Azure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Uploaded and executed the SQL database script in Azure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Connected the Azure SQL database to Visual Studio Code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Created over a dozen T-SQL queries to explore and analyze comparisons between Legendary and Non-Legendary Pokémon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Visualized key results using </a:t>
            </a:r>
            <a:r>
              <a:rPr lang="en-US" sz="1700" dirty="0" err="1"/>
              <a:t>DBCode</a:t>
            </a:r>
            <a:r>
              <a:rPr lang="en-US" sz="1700" dirty="0"/>
              <a:t> </a:t>
            </a:r>
          </a:p>
          <a:p>
            <a:pPr marL="502920" indent="-34290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+mj-lt"/>
              <a:buAutoNum type="arabicPeriod"/>
            </a:pPr>
            <a:r>
              <a:rPr lang="en-US" sz="1700" dirty="0"/>
              <a:t>Collaborated with teammates through GitHub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E60D4A7-A0F3-C0C8-944A-E592BE9175B5}"/>
              </a:ext>
            </a:extLst>
          </p:cNvPr>
          <p:cNvSpPr txBox="1">
            <a:spLocks/>
          </p:cNvSpPr>
          <p:nvPr/>
        </p:nvSpPr>
        <p:spPr>
          <a:xfrm>
            <a:off x="1059180" y="2221993"/>
            <a:ext cx="10073640" cy="3182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3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696CB-A8E9-12E0-190C-5A56AC29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8485DD-E485-03AC-FF03-580E3B7FD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Analysis and Findings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E9775D7-6AC4-169C-714E-4ED649C1BF16}"/>
              </a:ext>
            </a:extLst>
          </p:cNvPr>
          <p:cNvSpPr txBox="1">
            <a:spLocks/>
          </p:cNvSpPr>
          <p:nvPr/>
        </p:nvSpPr>
        <p:spPr>
          <a:xfrm>
            <a:off x="1069848" y="2320412"/>
            <a:ext cx="10058400" cy="4190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Legendary Pokémon consistently outperform non-legendary Pokémon in battle stats</a:t>
            </a:r>
            <a:r>
              <a:rPr lang="en-US" sz="1600" dirty="0"/>
              <a:t>, with an average advantage of roughly </a:t>
            </a:r>
            <a:r>
              <a:rPr lang="en-US" sz="1600" b="1" dirty="0"/>
              <a:t>30 points per stat category 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Overall averages are skewed toward non-legendary Pokémon</a:t>
            </a:r>
            <a:r>
              <a:rPr lang="en-US" sz="1600" dirty="0"/>
              <a:t> due to their significantly larger population (954 vs. 71), showing how dataset size affects overall results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Higher total battle stats strongly relate to higher card prices</a:t>
            </a:r>
            <a:r>
              <a:rPr lang="en-US" sz="1600" dirty="0"/>
              <a:t>, indicating that in-game strength and market value are associated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Top-tier Pokémon highlight extreme performance gaps</a:t>
            </a:r>
            <a:r>
              <a:rPr lang="en-US" sz="1600" dirty="0"/>
              <a:t>, with Pokémon like non-legendary </a:t>
            </a:r>
            <a:r>
              <a:rPr lang="en-US" sz="1600" dirty="0" err="1"/>
              <a:t>Arceus</a:t>
            </a:r>
            <a:r>
              <a:rPr lang="en-US" sz="1600" dirty="0"/>
              <a:t> (720 total stats) and legendary </a:t>
            </a:r>
            <a:r>
              <a:rPr lang="en-US" sz="1600" dirty="0" err="1"/>
              <a:t>Eternatus</a:t>
            </a:r>
            <a:r>
              <a:rPr lang="en-US" sz="1600" dirty="0"/>
              <a:t> (690 total stats) setting the highest performance levels among their groups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dirty="0"/>
              <a:t>Pokémon </a:t>
            </a:r>
            <a:r>
              <a:rPr lang="en-US" sz="1600" b="1" dirty="0"/>
              <a:t>type distribution is heavily dominated by non-legendary </a:t>
            </a:r>
            <a:r>
              <a:rPr lang="en-US" sz="1600" dirty="0"/>
              <a:t>Pokémon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dirty="0"/>
              <a:t>Legendary Pokémon </a:t>
            </a:r>
            <a:r>
              <a:rPr lang="en-US" sz="1600" b="1" dirty="0"/>
              <a:t>do not </a:t>
            </a:r>
            <a:r>
              <a:rPr lang="en-US" sz="1600" dirty="0"/>
              <a:t>participate in breeding systems 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Absent in egg groups 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NULL egg group values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Non-legendary Pokémon dominate egg group diversity</a:t>
            </a:r>
            <a:r>
              <a:rPr lang="en-US" sz="1600" dirty="0"/>
              <a:t>, with the </a:t>
            </a:r>
            <a:r>
              <a:rPr lang="en-US" sz="1600" b="1" dirty="0"/>
              <a:t>Field group being the most common</a:t>
            </a:r>
            <a:endParaRPr lang="en-US" sz="1600" dirty="0"/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sz="22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26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8C111-892C-C055-7183-54057CBC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FD3396A-ED40-E099-77AC-74CC2125E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5ED83B9-181E-603F-9541-56E30EE25A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13FA5AA-F5C9-19C5-EE55-2D7E2045F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FCD58-8AC8-A3E4-DCA8-D6091A662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ADCD4-17B2-BB4F-02E8-700CD7B9A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0E9B93-DAA6-E0D6-BAED-C74888E05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3F9DD9-934E-8744-7313-F5B598E27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1339B-DAE5-1890-2310-F613B08FB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Analysis and Findings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3C4F93B-4D72-F925-241A-060D8457C24B}"/>
              </a:ext>
            </a:extLst>
          </p:cNvPr>
          <p:cNvSpPr txBox="1">
            <a:spLocks/>
          </p:cNvSpPr>
          <p:nvPr/>
        </p:nvSpPr>
        <p:spPr>
          <a:xfrm>
            <a:off x="1069848" y="2320412"/>
            <a:ext cx="10058400" cy="40529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Card rarity impacts value, but not always as expected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Legendary Pokémon are more often associated with high-tier rarities</a:t>
            </a:r>
            <a:endParaRPr lang="en-US" sz="1200" b="1" dirty="0"/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Non-legendary Pokémon frequently have higher average prices within the same rarity tiers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Non-legendary card prices show greater variability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Lower minimum values (as low as 0.15)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Lower averages overall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Higher values in some cases (</a:t>
            </a:r>
            <a:r>
              <a:rPr lang="en-US" sz="1200" dirty="0" err="1"/>
              <a:t>Umbreon</a:t>
            </a:r>
            <a:r>
              <a:rPr lang="en-US" sz="1200" dirty="0"/>
              <a:t> outperforming legendary cards)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Outlier analysis identified premium cards exceeding category averages</a:t>
            </a:r>
            <a:r>
              <a:rPr lang="en-US" sz="1600" dirty="0"/>
              <a:t>, showing that individual popularity and demand can outweigh general trends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Price ranking analysis confirms category leaders</a:t>
            </a:r>
            <a:r>
              <a:rPr lang="en-US" sz="1600" dirty="0"/>
              <a:t>, with: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 err="1"/>
              <a:t>Rayquaza</a:t>
            </a:r>
            <a:r>
              <a:rPr lang="en-US" sz="1200" dirty="0"/>
              <a:t> as the highest-priced legendary card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 err="1"/>
              <a:t>Umbreon</a:t>
            </a:r>
            <a:r>
              <a:rPr lang="en-US" sz="1200" dirty="0"/>
              <a:t> as the highest-priced non-legendary card, significantly exceeding legendary prices</a:t>
            </a:r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dirty="0"/>
              <a:t>A </a:t>
            </a:r>
            <a:r>
              <a:rPr lang="en-US" sz="1600" b="1" dirty="0"/>
              <a:t>large portion of Pokémon exceed average total stats </a:t>
            </a:r>
            <a:r>
              <a:rPr lang="en-US" sz="1600" dirty="0"/>
              <a:t>(546 Pokémon).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DA96E46-43A6-B20C-E32B-F0DC0C5E0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46C07A5-1439-9F67-E413-0D8D215E9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843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5C710-E986-F2E7-1F51-229BD9A0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13E9984-46EC-375C-AA13-BDBC313D5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86D7D8F-C9BC-5BB8-CD41-CCFB2ED6D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3E8CA70-634B-4320-03C8-F289A19B3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570C4DF-29F1-04BE-7E84-869ECC46A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B5808B-CCEA-116B-7AE4-B84E7308B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A88518-5773-A6B8-91BD-449F74176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68B449-60B2-66BC-75D3-B2814D0C9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6024A-2BE5-239D-B832-1FD4629E9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Analysis and Findings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3AC1CF8-1F03-55A0-BAC9-9BB93F3D036A}"/>
              </a:ext>
            </a:extLst>
          </p:cNvPr>
          <p:cNvSpPr txBox="1">
            <a:spLocks/>
          </p:cNvSpPr>
          <p:nvPr/>
        </p:nvSpPr>
        <p:spPr>
          <a:xfrm>
            <a:off x="1069848" y="2292980"/>
            <a:ext cx="10058400" cy="4217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b="1" dirty="0"/>
              <a:t>Despite their smaller population, legendary Pokémon maintain higher average total stats overall</a:t>
            </a:r>
            <a:r>
              <a:rPr lang="en-US" sz="1600" dirty="0"/>
              <a:t>, making it evident that </a:t>
            </a:r>
            <a:r>
              <a:rPr lang="en-US" sz="1600" b="1" dirty="0"/>
              <a:t>they are high-tier Pokémon</a:t>
            </a:r>
            <a:r>
              <a:rPr lang="en-US" sz="1600" dirty="0"/>
              <a:t>.</a:t>
            </a:r>
            <a:endParaRPr lang="en-US" sz="1600" b="1" dirty="0"/>
          </a:p>
          <a:p>
            <a:pPr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600" dirty="0"/>
              <a:t>Ability distribution differs notably between groups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Non-legendary Pokémon typically have </a:t>
            </a:r>
            <a:r>
              <a:rPr lang="en-US" sz="1200" b="1" dirty="0"/>
              <a:t>multiple abilities plus a hidden ability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Legendary Pokémon generally have </a:t>
            </a:r>
            <a:r>
              <a:rPr lang="en-US" sz="1200" b="1" dirty="0"/>
              <a:t>only one ability and no hidden ability</a:t>
            </a:r>
          </a:p>
          <a:p>
            <a:pPr lvl="1" indent="-182880" algn="l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1200" dirty="0"/>
              <a:t>This suggests a tradeoff between </a:t>
            </a:r>
            <a:r>
              <a:rPr lang="en-US" sz="1200" b="1" dirty="0"/>
              <a:t>flexibility (non-legendary)</a:t>
            </a:r>
            <a:r>
              <a:rPr lang="en-US" sz="1200" dirty="0"/>
              <a:t> and </a:t>
            </a:r>
            <a:r>
              <a:rPr lang="en-US" sz="1200" b="1" dirty="0"/>
              <a:t>raw power (legendary)</a:t>
            </a:r>
            <a:endParaRPr lang="en-US" sz="12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01BF164-9C88-F65B-ECC4-6D269563E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AFFD84-BE86-9A48-A1B0-C01896ED1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79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2DD1D-FF96-E8BD-D42A-1CFC701E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148C-118B-2888-749F-BBCE711A3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180" y="1014985"/>
            <a:ext cx="10073640" cy="758951"/>
          </a:xfrm>
        </p:spPr>
        <p:txBody>
          <a:bodyPr>
            <a:normAutofit/>
          </a:bodyPr>
          <a:lstStyle/>
          <a:p>
            <a:pPr algn="l"/>
            <a:r>
              <a:rPr lang="en-US" sz="3300" b="1" dirty="0"/>
              <a:t>Conclusion and Recommendations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E8D0503-0FD3-8E4A-7B24-2DEBC5614685}"/>
              </a:ext>
            </a:extLst>
          </p:cNvPr>
          <p:cNvSpPr txBox="1">
            <a:spLocks/>
          </p:cNvSpPr>
          <p:nvPr/>
        </p:nvSpPr>
        <p:spPr>
          <a:xfrm>
            <a:off x="1059180" y="1773936"/>
            <a:ext cx="10073640" cy="36587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Legendary Pokémon are high-performers and are much rarer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Non-Legendary Pokémon are more diverse and can be more valuable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There is a visible connection between stats, rarity, and price</a:t>
            </a:r>
          </a:p>
          <a:p>
            <a:pPr algn="l">
              <a:lnSpc>
                <a:spcPct val="100000"/>
              </a:lnSpc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E38580F1-B39D-93AD-B7AE-F98F35361D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658472"/>
              </p:ext>
            </p:extLst>
          </p:nvPr>
        </p:nvGraphicFramePr>
        <p:xfrm>
          <a:off x="128016" y="4471416"/>
          <a:ext cx="10291572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9632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2EAAC-9183-54F0-75E4-9958B0100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132FD491-28F3-42E7-AEBF-A9E3C462C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D016B6E-F283-4CFB-9099-05C8DA6AB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2D0360E-345F-4790-B0A0-03ADC36B5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11D2F-B1D0-03BA-9A17-ACA48B0CB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>
                <a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References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AB7350-032A-1D0D-E656-363CBF166B09}"/>
              </a:ext>
            </a:extLst>
          </p:cNvPr>
          <p:cNvSpPr txBox="1"/>
          <p:nvPr/>
        </p:nvSpPr>
        <p:spPr>
          <a:xfrm>
            <a:off x="1069848" y="2697480"/>
            <a:ext cx="10058400" cy="3474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1600" dirty="0">
                <a:hlinkClick r:id="rId7"/>
              </a:rPr>
              <a:t>https://www.kaggle.com/datasets/ceebloop/pokmon-dataset-2024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- Initial single-table Pokémon dataset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1600" dirty="0"/>
              <a:t> </a:t>
            </a:r>
            <a:r>
              <a:rPr lang="en-US" sz="1600" dirty="0">
                <a:hlinkClick r:id="rId8"/>
              </a:rPr>
              <a:t>https://github.com/djsoriano999/Legendary-Pokemon-Classification-Analysis/tree/main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- Our GitHub repository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1600" dirty="0">
                <a:hlinkClick r:id="rId9"/>
              </a:rPr>
              <a:t>https://chatgpt.com/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- Assistance with bonus T-SQL query 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70D1B6-F691-74E7-B5D0-6DA2EC8E3185}"/>
              </a:ext>
            </a:extLst>
          </p:cNvPr>
          <p:cNvSpPr txBox="1">
            <a:spLocks/>
          </p:cNvSpPr>
          <p:nvPr/>
        </p:nvSpPr>
        <p:spPr>
          <a:xfrm>
            <a:off x="1059180" y="2221993"/>
            <a:ext cx="10073640" cy="3182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2633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2017</TotalTime>
  <Words>752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Legendary Pokémon Classification Analysis</vt:lpstr>
      <vt:lpstr>Introduction</vt:lpstr>
      <vt:lpstr>Process</vt:lpstr>
      <vt:lpstr>Analysis and Findings</vt:lpstr>
      <vt:lpstr>Analysis and Findings</vt:lpstr>
      <vt:lpstr>Analysis and Findings</vt:lpstr>
      <vt:lpstr>Conclusion and Recommendations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Soriano</dc:creator>
  <cp:lastModifiedBy>Daniel Soriano</cp:lastModifiedBy>
  <cp:revision>3</cp:revision>
  <dcterms:created xsi:type="dcterms:W3CDTF">2026-04-17T19:18:40Z</dcterms:created>
  <dcterms:modified xsi:type="dcterms:W3CDTF">2026-04-19T21:54:18Z</dcterms:modified>
</cp:coreProperties>
</file>